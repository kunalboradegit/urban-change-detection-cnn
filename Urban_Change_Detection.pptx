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U-Net</c:v>
                </c:pt>
              </c:strCache>
            </c:strRef>
          </c:tx>
          <c:spPr>
            <a:solidFill>
              <a:srgbClr val="0E7490"/>
            </a:solidFill>
            <a:ln w="31750" cap="flat">
              <a:solidFill>
                <a:srgbClr val="0E74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490"/>
              </a:solidFill>
              <a:ln w="9525" cap="flat">
                <a:solidFill>
                  <a:srgbClr val="0E74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36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0.258</c:v>
                </c:pt>
                <c:pt idx="1">
                  <c:v>0.48</c:v>
                </c:pt>
                <c:pt idx="2">
                  <c:v>0.54</c:v>
                </c:pt>
                <c:pt idx="3">
                  <c:v>0.565</c:v>
                </c:pt>
                <c:pt idx="4">
                  <c:v>0.582</c:v>
                </c:pt>
                <c:pt idx="5">
                  <c:v>0.591</c:v>
                </c:pt>
                <c:pt idx="6">
                  <c:v>0.625</c:v>
                </c:pt>
                <c:pt idx="7">
                  <c:v>0.632</c:v>
                </c:pt>
                <c:pt idx="8">
                  <c:v>0.62</c:v>
                </c:pt>
                <c:pt idx="9">
                  <c:v>0.615</c:v>
                </c:pt>
                <c:pt idx="10">
                  <c:v>0.608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Siamese U-Net</c:v>
                </c:pt>
              </c:strCache>
            </c:strRef>
          </c:tx>
          <c:spPr>
            <a:solidFill>
              <a:srgbClr val="1B4F72"/>
            </a:solidFill>
            <a:ln w="31750" cap="flat">
              <a:solidFill>
                <a:srgbClr val="1B4F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4F72"/>
              </a:solidFill>
              <a:ln w="9525" cap="flat">
                <a:solidFill>
                  <a:srgbClr val="1B4F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23</c:v>
                  </c:pt>
                  <c:pt idx="6">
                    <c:v>30</c:v>
                  </c:pt>
                  <c:pt idx="7">
                    <c:v>36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0.135</c:v>
                </c:pt>
                <c:pt idx="1">
                  <c:v>0.4</c:v>
                </c:pt>
                <c:pt idx="2">
                  <c:v>0.506</c:v>
                </c:pt>
                <c:pt idx="3">
                  <c:v>0.505</c:v>
                </c:pt>
                <c:pt idx="4">
                  <c:v>0.505</c:v>
                </c:pt>
                <c:pt idx="5">
                  <c:v>0.506</c:v>
                </c:pt>
                <c:pt idx="6">
                  <c:v>0.498</c:v>
                </c:pt>
                <c:pt idx="7">
                  <c:v>0.492</c:v>
                </c:pt>
                <c:pt idx="8">
                  <c:v>0.5</c:v>
                </c:pt>
                <c:pt idx="9">
                  <c:v>0.497</c:v>
                </c:pt>
                <c:pt idx="10">
                  <c:v>0.495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.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Validation IoU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IoU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FC-EF (Daudt 2018)</c:v>
                  </c:pt>
                  <c:pt idx="1">
                    <c:v>FC-Siam-Diff (Daudt 2018)</c:v>
                  </c:pt>
                  <c:pt idx="2">
                    <c:v>This project — U-Net</c:v>
                  </c:pt>
                  <c:pt idx="3">
                    <c:v>This project — Siamese</c:v>
                  </c:pt>
                  <c:pt idx="4">
                    <c:v>BIT (Chen 2021)</c:v>
                  </c:pt>
                  <c:pt idx="5">
                    <c:v>ChangeFormer (Bandara 2022)</c:v>
                  </c:pt>
                  <c:pt idx="6">
                    <c:v>SNUNet (Fang 2021)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0.617</c:v>
                </c:pt>
                <c:pt idx="1">
                  <c:v>0.647</c:v>
                </c:pt>
                <c:pt idx="2">
                  <c:v>0.614</c:v>
                </c:pt>
                <c:pt idx="3">
                  <c:v>0.5</c:v>
                </c:pt>
                <c:pt idx="4">
                  <c:v>0.717</c:v>
                </c:pt>
                <c:pt idx="5">
                  <c:v>0.706</c:v>
                </c:pt>
                <c:pt idx="6">
                  <c:v>0.733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FC-EF (Daudt 2018)</c:v>
                  </c:pt>
                  <c:pt idx="1">
                    <c:v>FC-Siam-Diff (Daudt 2018)</c:v>
                  </c:pt>
                  <c:pt idx="2">
                    <c:v>This project — U-Net</c:v>
                  </c:pt>
                  <c:pt idx="3">
                    <c:v>This project — Siamese</c:v>
                  </c:pt>
                  <c:pt idx="4">
                    <c:v>BIT (Chen 2021)</c:v>
                  </c:pt>
                  <c:pt idx="5">
                    <c:v>ChangeFormer (Bandara 2022)</c:v>
                  </c:pt>
                  <c:pt idx="6">
                    <c:v>SNUNet (Fang 2021)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0.755</c:v>
                </c:pt>
                <c:pt idx="1">
                  <c:v>0.783</c:v>
                </c:pt>
                <c:pt idx="2">
                  <c:v>0.726</c:v>
                </c:pt>
                <c:pt idx="3">
                  <c:v>0.658</c:v>
                </c:pt>
                <c:pt idx="4">
                  <c:v>0.833</c:v>
                </c:pt>
                <c:pt idx="5">
                  <c:v>0.823</c:v>
                </c:pt>
                <c:pt idx="6">
                  <c:v>0.845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4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54864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48640"/>
            <a:ext cx="3108960" cy="320040"/>
          </a:xfrm>
          <a:prstGeom prst="rect">
            <a:avLst/>
          </a:prstGeom>
          <a:solidFill>
            <a:srgbClr val="0E7490">
              <a:alpha val="3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48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LEICESTER  ·  GROUP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Change Detection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CNN Models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CNN Models to Remote Sensing Using Satellite Imagery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8046720" cy="457200"/>
          </a:xfrm>
          <a:prstGeom prst="rect">
            <a:avLst/>
          </a:prstGeom>
          <a:solidFill>
            <a:srgbClr val="1B4F72">
              <a:alpha val="40000"/>
            </a:srgbClr>
          </a:solidFill>
          <a:ln w="12700">
            <a:solidFill>
              <a:srgbClr val="1B4F72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37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LEVIR-CD  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Models: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&amp; Siamese U-Net  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Assignment 2 — Group Research Project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IoU </a:t>
            </a:r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0.614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F1 </a:t>
            </a:r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0.726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Competitive with published FC-EF baseline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68096"/>
            <a:ext cx="1097280" cy="502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051560"/>
            <a:ext cx="502920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161288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874520"/>
            <a:ext cx="50292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7452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1984248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LEVIR-CD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697480"/>
            <a:ext cx="502920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9748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807208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52044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520440"/>
            <a:ext cx="50292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2044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630168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92040" y="105156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1051560"/>
            <a:ext cx="502920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05156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0" y="1161288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187452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1874520"/>
            <a:ext cx="50292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87452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0" y="1984248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Limitations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92040" y="269748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2697480"/>
            <a:ext cx="502920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69748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6400" y="2807208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68096"/>
            <a:ext cx="1097280" cy="502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2743200" cy="1280160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058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world population projected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urban areas by 2050 (UN)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96012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960120"/>
            <a:ext cx="73152" cy="6858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96012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urbanisation drives land-use change globally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83280" y="178308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783080"/>
            <a:ext cx="73152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78308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of satellite imagery is impractical at scale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383280" y="260604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2606040"/>
            <a:ext cx="73152" cy="6858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26060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image-processing fails on high-dimensional data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383280" y="3429000"/>
            <a:ext cx="5394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83280" y="3429000"/>
            <a:ext cx="73152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342900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can learn spatial representations without manual feature engineering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4251960"/>
            <a:ext cx="83667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2519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per-pixel urban change (building construction/demolition) between two co-registered satellite images captured at different times.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LEVIR-CD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68096"/>
            <a:ext cx="1097280" cy="502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60120"/>
            <a:ext cx="109728" cy="1234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124712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7,120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12648" y="1673352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pairs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60120"/>
            <a:ext cx="109728" cy="1234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1124712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47288" y="1673352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pairs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960120"/>
            <a:ext cx="109728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124712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2,048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81928" y="1673352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pairs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42316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" y="249631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00200" y="249631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m/pixel — fine enough to detect individual buildings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42316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73168" y="249631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52160" y="249631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× 256 px patches (cropped from 1024 × 1024 originals)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172968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1208" y="324612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600200" y="32461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cities in Texas, USA — collected 2002–2018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172968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73168" y="324612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52160" y="32461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pixels ≈ 3–5% of total — significant imbalance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3922776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21208" y="399592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600200" y="39959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masks: 1 = changed (new build / demolition), 0 = unchanged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922776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73168" y="399592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852160" y="39959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Earth very-high-resolution imagery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U-Net (early fusion baseline)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68096"/>
            <a:ext cx="1097280" cy="502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1463040" cy="9601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6-ch 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74520" y="1485900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1005840"/>
            <a:ext cx="1463040" cy="9601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00584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485900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005840"/>
            <a:ext cx="146304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00584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3480" y="1485900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1005840"/>
            <a:ext cx="1463040" cy="960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00584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1485900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005840"/>
            <a:ext cx="146304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00584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1×H×W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0" y="2331720"/>
            <a:ext cx="470916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292608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skip connections →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2788920"/>
            <a:ext cx="8366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278892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91640" y="2788920"/>
            <a:ext cx="6995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6-channel tensor: pre-change (RGB) + post-change (RGB) concatenated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136392"/>
            <a:ext cx="83667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13639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91640" y="3136392"/>
            <a:ext cx="6995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DoubleConv + MaxPool  →  32 → 64 → 128 → 256 channels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3483864"/>
            <a:ext cx="8366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3483864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691640" y="3483864"/>
            <a:ext cx="6995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DoubleConv block at 512 channels, 16×16 spatial resolution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1480" y="3831336"/>
            <a:ext cx="83667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383133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691640" y="3831336"/>
            <a:ext cx="6995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ConvTranspose2d + skip concatenation + DoubleConv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1480" y="4178808"/>
            <a:ext cx="8366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417880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91640" y="4178808"/>
            <a:ext cx="6995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convolution → single logit map → sigmoid → change probability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11480" y="4526280"/>
            <a:ext cx="83667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2920" y="452628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691640" y="4526280"/>
            <a:ext cx="6995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~7.76M  |  base_channels = 32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Siamese U-Net (shared encoder)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68096"/>
            <a:ext cx="1097280" cy="502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201168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 (pre-change)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645920"/>
            <a:ext cx="20116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45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Encoder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331720"/>
            <a:ext cx="201168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31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B (post-change)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971800"/>
            <a:ext cx="20116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971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Encoder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23160" y="1901952"/>
            <a:ext cx="4572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3218688"/>
            <a:ext cx="4572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1417320"/>
            <a:ext cx="2103120" cy="2286000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2377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|f_A − f_B|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80360" y="28346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at each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scale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83480" y="2578608"/>
            <a:ext cx="4572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0680" y="1645920"/>
            <a:ext cx="1737360" cy="18288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23317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78040" y="2578608"/>
            <a:ext cx="4572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35240" y="2148840"/>
            <a:ext cx="114300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214884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977640"/>
            <a:ext cx="8366760" cy="86868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3977640"/>
            <a:ext cx="8183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happens in learned feature space, not raw pixels — more robust to illumination and atmospheric differences between time steps.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1051560"/>
            <a:ext cx="8366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~11.64M parameters  |  Encoder shared (applied twice per forward pass)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68096"/>
            <a:ext cx="1097280" cy="502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8366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05840"/>
            <a:ext cx="836676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005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0058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28016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94560" y="128016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weight decay — better generalisation than Adam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1517904"/>
            <a:ext cx="83667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792224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94560" y="1792224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10⁻⁴  (initial)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179222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by ×0.5 when val IoU plateaus (patience = 3)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029968"/>
            <a:ext cx="8366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04288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94560" y="230428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(max, ×0.5)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230428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— fine-grained convergence after initial learning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2542032"/>
            <a:ext cx="83667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81635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94560" y="281635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Dice-BCE  (α = 0.5)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281635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stability + Dice robustness to class imbalance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054096"/>
            <a:ext cx="8366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32841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94560" y="3328416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332841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below 0.5 to boost recall on minority change class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3566160"/>
            <a:ext cx="83667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84048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94560" y="384048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|  Epochs: 50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38404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saved at every new best validation IoU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078224"/>
            <a:ext cx="8366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352544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194560" y="4352544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+ vertical flip (p=0.5)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46320" y="435254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A, B, and mask consistently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1480" y="4663440"/>
            <a:ext cx="8366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trained under identical conditions for a fair architectural comparison.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results — LEVIR-CD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68096"/>
            <a:ext cx="1097280" cy="502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1148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960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(early fusion)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11480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960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Siamese U-Net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55448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554480"/>
            <a:ext cx="109728" cy="1234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719072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0.6138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2648" y="2267712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(primary)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14600" y="155448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1554480"/>
            <a:ext cx="109728" cy="1234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15768" y="1719072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0.7261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715768" y="2267712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97180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971800"/>
            <a:ext cx="109728" cy="1234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3136392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0.9809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2648" y="3685032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14600" y="297180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14600" y="2971800"/>
            <a:ext cx="109728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15768" y="3136392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0.7991 / 0.7374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2715768" y="3685032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55448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554480"/>
            <a:ext cx="109728" cy="1234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1719072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0.5000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864608" y="2267712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(primary)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155448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66560" y="1554480"/>
            <a:ext cx="109728" cy="1234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67728" y="1719072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0.6576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967728" y="2267712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297180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971800"/>
            <a:ext cx="109728" cy="1234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3136392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0.9757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864608" y="3685032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66560" y="297180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766560" y="2971800"/>
            <a:ext cx="109728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728" y="3136392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0.7217 / 0.6133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967728" y="3685032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0" y="4434840"/>
            <a:ext cx="1463040" cy="301752"/>
          </a:xfrm>
          <a:prstGeom prst="roundRect">
            <a:avLst>
              <a:gd name="adj" fmla="val 4545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0" y="4434840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on all 5 metrics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dynamics — IoU progression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68096"/>
            <a:ext cx="1097280" cy="502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960120"/>
          <a:ext cx="83210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48056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4480560"/>
            <a:ext cx="9144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44805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improvement to epoch 36 (best IoU = 0.632), then gradual LR decay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448056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4480560"/>
            <a:ext cx="9144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44805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Siamese: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early gains, plateau from epoch 23 — harder optimisation objective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published baselines — LEVIR-CD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68096"/>
            <a:ext cx="1097280" cy="502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960120"/>
          <a:ext cx="83210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4663440"/>
            <a:ext cx="8183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U-Net (IoU 0.614)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competitive with the published FC-EF baseline (0.617), validating a correct and well-calibrated implementation.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68096"/>
            <a:ext cx="1097280" cy="502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U-Net outperformed Siamese U-Net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71600"/>
            <a:ext cx="260604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716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optimisation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Shared-encoder constraint forces one feature space for both time steps — tougher without pre-trained weights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71600"/>
            <a:ext cx="260604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3716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alignment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37560" y="17373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difference loses direction of change; more sophisticated fusion strategies may help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3716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371600"/>
            <a:ext cx="260604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3716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budget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72200" y="17373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Siamese architectures generally need more data/epochs to reach full potential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26974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3108960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108960"/>
            <a:ext cx="109728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31089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pre-trained encoders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3108960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3108960"/>
            <a:ext cx="109728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47288" y="31089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augmentation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3108960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3108960"/>
            <a:ext cx="109728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31089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binarisation threshold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794760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3794760"/>
            <a:ext cx="109728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37947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training only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46120" y="3794760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3794760"/>
            <a:ext cx="109728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47288" y="37947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test-time augmentation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54864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005840"/>
            <a:ext cx="8229600" cy="502920"/>
          </a:xfrm>
          <a:prstGeom prst="rect">
            <a:avLst/>
          </a:prstGeom>
          <a:solidFill>
            <a:srgbClr val="1B4F72">
              <a:alpha val="25000"/>
            </a:srgbClr>
          </a:solidFill>
          <a:ln w="12700">
            <a:solidFill>
              <a:srgbClr val="1B4F72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05840"/>
            <a:ext cx="73152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058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U-Net: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0058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0.614, F1 0.726 — competitive with published FC-EF baseline (0.617)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572768"/>
            <a:ext cx="8229600" cy="502920"/>
          </a:xfrm>
          <a:prstGeom prst="rect">
            <a:avLst/>
          </a:prstGeom>
          <a:solidFill>
            <a:srgbClr val="1B4F72">
              <a:alpha val="25000"/>
            </a:srgbClr>
          </a:solidFill>
          <a:ln w="12700">
            <a:solidFill>
              <a:srgbClr val="1B4F72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572768"/>
            <a:ext cx="73152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57276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Siamese: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15727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0.500, F1 0.658 — plateau from epoch 23, harder optimisation from scratch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139696"/>
            <a:ext cx="8229600" cy="502920"/>
          </a:xfrm>
          <a:prstGeom prst="rect">
            <a:avLst/>
          </a:prstGeom>
          <a:solidFill>
            <a:srgbClr val="1B4F72">
              <a:alpha val="25000"/>
            </a:srgbClr>
          </a:solidFill>
          <a:ln w="12700">
            <a:solidFill>
              <a:srgbClr val="1B4F72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139696"/>
            <a:ext cx="73152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13969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2139696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early-fusion CNN trained carefully beats more complex architectures without pre-training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2706624"/>
            <a:ext cx="8229600" cy="502920"/>
          </a:xfrm>
          <a:prstGeom prst="rect">
            <a:avLst/>
          </a:prstGeom>
          <a:solidFill>
            <a:srgbClr val="1B4F72">
              <a:alpha val="25000"/>
            </a:srgbClr>
          </a:solidFill>
          <a:ln w="12700">
            <a:solidFill>
              <a:srgbClr val="1B4F72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706624"/>
            <a:ext cx="73152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70662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2706624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(~98%) is misleading — IoU &amp; F1 are the meaningful metrics for imbalanced change detection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37033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ResNet / EfficientNet encoder (+5–10 IoU points expected)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mechanisms (SE blocks, CBAM) in the decoder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512×512 patches + GPU training + test-time augmentation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architectures: BIT, ChangeFormer (published IoU ~0.71–0.73)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Change Detection Using CNN Models</dc:title>
  <dc:subject>PptxGenJS Presentation</dc:subject>
  <dc:creator>Group 1 - University of Leicester</dc:creator>
  <cp:lastModifiedBy>Group 1 - University of Leicester</cp:lastModifiedBy>
  <cp:revision>1</cp:revision>
  <dcterms:created xsi:type="dcterms:W3CDTF">2026-04-23T19:51:50Z</dcterms:created>
  <dcterms:modified xsi:type="dcterms:W3CDTF">2026-04-23T19:51:50Z</dcterms:modified>
</cp:coreProperties>
</file>